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8732838" cy="11704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3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"/>
            <a:ext cx="8732520" cy="127558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70747" y="841320"/>
            <a:ext cx="518305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MindSync: A Multimodal System for Automated Depression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
</a:t>
            </a:r>
            <a:r>
              <a:rPr sz="12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Detection Using Deep Learning and Audio-Visual Signal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026" y="1328003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627" y="1321307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Abstract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6" y="1759298"/>
            <a:ext cx="2761488" cy="324612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10312" y="1947672"/>
            <a:ext cx="2578608" cy="296081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000" b="1" dirty="0">
                <a:solidFill>
                  <a:srgbClr val="141414"/>
                </a:solidFill>
                <a:latin typeface="Arial"/>
              </a:rPr>
              <a:t>MDD affects over 280 million people globally, reliant on subjective assessment. Multimodal systems like MindSync are needed to depression screening.</a:t>
            </a:r>
          </a:p>
          <a:p>
            <a:endParaRPr lang="en-US" sz="1000" b="1" dirty="0">
              <a:solidFill>
                <a:srgbClr val="141414"/>
              </a:solidFill>
              <a:latin typeface="Arial"/>
            </a:endParaRPr>
          </a:p>
          <a:p>
            <a:r>
              <a:rPr lang="en-US" sz="1000" b="1" dirty="0">
                <a:solidFill>
                  <a:srgbClr val="141414"/>
                </a:solidFill>
                <a:latin typeface="Arial"/>
              </a:rPr>
              <a:t>We propose a framework integrating independent audio (CNN+BiLSTM+RNN on MFCCs) and video (pretrained R3D-18 backbone with auxiliary 3D CNNs) sub-networks, combined via a fusion MLP. Trained on the sumputar bonin, re-mapped on RAVDESS emotions) and attrations for depression-indicator detection. The avsior is trained on RAVDESS (8 emotions) re-mapped for depression-indicator detection. Achieving state-of-the-art multimodal fusion accuracy of 96.74%.</a:t>
            </a:r>
            <a:endParaRPr sz="10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8872" y="5102352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" y="5125212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Aim of the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" y="5541264"/>
            <a:ext cx="2761488" cy="141732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" y="5632704"/>
            <a:ext cx="2578608" cy="12834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900" b="1" dirty="0">
                <a:solidFill>
                  <a:srgbClr val="141414"/>
                </a:solidFill>
                <a:latin typeface="Arial"/>
              </a:rPr>
              <a:t>Provide clinicians with an objective, reproducible, and scalable depression-indicator screening tool .... leveraging depression-indicator axmabrralities, and passively collected audio-visual data, leveraging depression audio data, augmenting augmenting diagnostic capabilities and ... flagging individuals for comprehensive evaluation.</a:t>
            </a:r>
            <a:endParaRPr sz="9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8872" y="7114032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" y="7136892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" y="7662672"/>
            <a:ext cx="2761488" cy="3090672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" y="7808564"/>
            <a:ext cx="2578608" cy="1421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900" b="1" dirty="0">
                <a:solidFill>
                  <a:srgbClr val="141414"/>
                </a:solidFill>
                <a:latin typeface="Arial"/>
              </a:rPr>
              <a:t>Ryerson Audio-Visual Database of Emotional Speech and Song (RAVDESS). 7,356 audio-visual recordings · 24 professional actors, 8 emotional states (Sad, Fear, Disgust, Happy, Calm, Angry, Neutral, Surprised) .... Re-mapped original emotion taxonomy to binary ‘Depressed’ (Sad, Fear) and ‘Normal’ (others) for this task...</a:t>
            </a:r>
          </a:p>
          <a:p>
            <a:r>
              <a:rPr lang="en-US" sz="900" b="1" dirty="0">
                <a:solidFill>
                  <a:srgbClr val="141414"/>
                </a:solidFill>
                <a:latin typeface="Arial"/>
              </a:rPr>
              <a:t>Speech and Song subsets utilized to maximize data.</a:t>
            </a:r>
            <a:endParaRPr sz="900" b="1" dirty="0">
              <a:solidFill>
                <a:srgbClr val="141414"/>
              </a:solidFill>
              <a:latin typeface="Arial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07152"/>
              </p:ext>
            </p:extLst>
          </p:nvPr>
        </p:nvGraphicFramePr>
        <p:xfrm>
          <a:off x="110047" y="9331389"/>
          <a:ext cx="2578608" cy="851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/>
                      <a:r>
                        <a:rPr sz="580" b="1">
                          <a:solidFill>
                            <a:srgbClr val="141414"/>
                          </a:solidFill>
                          <a:latin typeface="Arial"/>
                        </a:rPr>
                        <a:t>Subsets</a:t>
                      </a:r>
                    </a:p>
                  </a:txBody>
                  <a:tcPr>
                    <a:solidFill>
                      <a:srgbClr val="E1E8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1" dirty="0">
                          <a:solidFill>
                            <a:srgbClr val="141414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E1E8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1" dirty="0">
                          <a:solidFill>
                            <a:srgbClr val="141414"/>
                          </a:solidFill>
                          <a:latin typeface="Arial"/>
                        </a:rPr>
                        <a:t>Category / Counts</a:t>
                      </a:r>
                    </a:p>
                  </a:txBody>
                  <a:tcPr>
                    <a:solidFill>
                      <a:srgbClr val="E1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 dirty="0">
                          <a:solidFill>
                            <a:srgbClr val="141414"/>
                          </a:solidFill>
                          <a:latin typeface="Arial"/>
                        </a:rPr>
                        <a:t>7,356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 dirty="0">
                          <a:solidFill>
                            <a:srgbClr val="141414"/>
                          </a:solidFill>
                          <a:latin typeface="Arial"/>
                        </a:rPr>
                        <a:t>Depressed 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Sad 8 · Fear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Song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141414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 dirty="0">
                          <a:solidFill>
                            <a:srgbClr val="141414"/>
                          </a:solidFill>
                          <a:latin typeface="Arial"/>
                        </a:rPr>
                        <a:t>Disgust 24 · Neutral 16 · Surprised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000756" y="1318575"/>
            <a:ext cx="2751542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104809" y="1382185"/>
            <a:ext cx="2615184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00756" y="1812138"/>
            <a:ext cx="2761488" cy="5391912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3191256" y="1945200"/>
            <a:ext cx="2542032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dirty="0">
                <a:solidFill>
                  <a:srgbClr val="141414"/>
                </a:solidFill>
                <a:latin typeface="Arial"/>
              </a:rPr>
              <a:t>▪ Audio Sub-Network</a:t>
            </a:r>
          </a:p>
        </p:txBody>
      </p:sp>
      <p:pic>
        <p:nvPicPr>
          <p:cNvPr id="25" name="Picture 24" descr="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257479"/>
            <a:ext cx="2578608" cy="1330894"/>
          </a:xfrm>
          <a:prstGeom prst="rect">
            <a:avLst/>
          </a:prstGeom>
        </p:spPr>
      </p:pic>
      <p:pic>
        <p:nvPicPr>
          <p:cNvPr id="27" name="Picture 26" descr="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899602"/>
            <a:ext cx="2578608" cy="137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62272" y="5286375"/>
            <a:ext cx="254203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dirty="0">
                <a:solidFill>
                  <a:srgbClr val="141414"/>
                </a:solidFill>
                <a:latin typeface="Arial"/>
              </a:rPr>
              <a:t>▪ Feature-Level Fusion</a:t>
            </a:r>
          </a:p>
        </p:txBody>
      </p:sp>
      <p:pic>
        <p:nvPicPr>
          <p:cNvPr id="29" name="Picture 28" descr="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5298670"/>
            <a:ext cx="2578608" cy="165991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017520" y="7424927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90672" y="7447788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7863840"/>
            <a:ext cx="2578608" cy="1754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dirty="0">
                <a:solidFill>
                  <a:srgbClr val="141414"/>
                </a:solidFill>
                <a:latin typeface="Arial"/>
              </a:rPr>
              <a:t>MIND-SYNC SYSTEM ARCHITECTURE</a:t>
            </a:r>
          </a:p>
        </p:txBody>
      </p:sp>
      <p:pic>
        <p:nvPicPr>
          <p:cNvPr id="33" name="Picture 32" descr="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8138161"/>
            <a:ext cx="2578608" cy="343154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936060" y="1318575"/>
            <a:ext cx="2754101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2260" y="1358591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43016" y="1812138"/>
            <a:ext cx="2761488" cy="352044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673" y="2025650"/>
            <a:ext cx="2568221" cy="289341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966540" y="7404354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2260" y="7442707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8673" y="7843266"/>
            <a:ext cx="2761488" cy="1627632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59" y="7927848"/>
            <a:ext cx="2578608" cy="114492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900" b="1" dirty="0">
                <a:solidFill>
                  <a:srgbClr val="141414"/>
                </a:solidFill>
                <a:latin typeface="Arial"/>
              </a:rPr>
              <a:t>MindSync is a technically sound, modular multimodal system... Feature-level fusion effectively exploits complementary audio-visual information... achieving state-of-the-art 96.74% fusion accuracy. Mental Health Inference Engine provides interpretable clinical indicator scores. Fusion gain is consistent across evaluation protocols.</a:t>
            </a:r>
            <a:endParaRPr sz="9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989320" y="9619488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020474" y="9644635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Future 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0715" y="10103468"/>
            <a:ext cx="2761488" cy="1525905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27500" y="10144211"/>
            <a:ext cx="2578608" cy="13449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dirty="0">
                <a:solidFill>
                  <a:srgbClr val="141414"/>
                </a:solidFill>
                <a:latin typeface="Arial"/>
              </a:rPr>
              <a:t>Domain Adaptation to naturalistic clinical datasets (e.g., DAIC-WOZ/E-DAIC)
More Modalities (EEG, Physiological, Verbal text)
Longitudinal Deployment and pattern analysis
Explainability (SHAP, Grad-CAM)
Self-Supervised backbones (wav2vec 2.0, HuBERT, TimeSformer)
(Include this finding of sad/neutral challenges as a motivation point)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79" y="5495544"/>
            <a:ext cx="2761488" cy="393192"/>
          </a:xfrm>
          <a:prstGeom prst="roundRect">
            <a:avLst/>
          </a:prstGeom>
          <a:solidFill>
            <a:srgbClr val="50BECD"/>
          </a:solidFill>
          <a:ln>
            <a:solidFill>
              <a:srgbClr val="5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66540" y="5553101"/>
            <a:ext cx="2615184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pic>
        <p:nvPicPr>
          <p:cNvPr id="55" name="صورة 6" descr="logo">
            <a:extLst>
              <a:ext uri="{FF2B5EF4-FFF2-40B4-BE49-F238E27FC236}">
                <a16:creationId xmlns:a16="http://schemas.microsoft.com/office/drawing/2014/main" id="{86E03D98-6119-F632-BEC2-02AFB3F8BBD1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0" t="10535" r="5108" b="8598"/>
          <a:stretch/>
        </p:blipFill>
        <p:spPr bwMode="auto">
          <a:xfrm>
            <a:off x="5233080" y="175691"/>
            <a:ext cx="1446583" cy="6575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7" name="صورة 8" descr="logo">
            <a:extLst>
              <a:ext uri="{FF2B5EF4-FFF2-40B4-BE49-F238E27FC236}">
                <a16:creationId xmlns:a16="http://schemas.microsoft.com/office/drawing/2014/main" id="{B992E71A-CAD9-3B68-BBDB-CB5E93534A4D}"/>
              </a:ext>
            </a:extLst>
          </p:cNvPr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3" t="2640" r="24189" b="3760"/>
          <a:stretch/>
        </p:blipFill>
        <p:spPr bwMode="auto">
          <a:xfrm>
            <a:off x="3956933" y="285695"/>
            <a:ext cx="505339" cy="5195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EC36102-2CE5-6D16-D8D3-5E56EF9869A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1080" y="199647"/>
            <a:ext cx="868680" cy="65751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504EBC-0736-88A3-7B53-5BC7F08DF00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27" y="87552"/>
            <a:ext cx="868680" cy="665730"/>
          </a:xfrm>
          <a:prstGeom prst="ellipse">
            <a:avLst/>
          </a:prstGeom>
          <a:ln w="3175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1454987-96B2-70ED-1512-4A369784500E}"/>
              </a:ext>
            </a:extLst>
          </p:cNvPr>
          <p:cNvSpPr txBox="1"/>
          <p:nvPr/>
        </p:nvSpPr>
        <p:spPr>
          <a:xfrm>
            <a:off x="5779008" y="5901810"/>
            <a:ext cx="221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SCAN TO TRY OUR AI SYSTEM</a:t>
            </a:r>
            <a:br>
              <a:rPr lang="en-US" sz="900" b="1" dirty="0"/>
            </a:br>
            <a:r>
              <a:rPr lang="en-US" sz="900" b="1" dirty="0"/>
              <a:t>📱 Try the Depression Screening App</a:t>
            </a:r>
            <a:endParaRPr 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ounded Rectangle 44">
            <a:extLst>
              <a:ext uri="{FF2B5EF4-FFF2-40B4-BE49-F238E27FC236}">
                <a16:creationId xmlns:a16="http://schemas.microsoft.com/office/drawing/2014/main" id="{42372814-0FBE-1BF2-7770-2E9E1C7A519F}"/>
              </a:ext>
            </a:extLst>
          </p:cNvPr>
          <p:cNvSpPr/>
          <p:nvPr/>
        </p:nvSpPr>
        <p:spPr>
          <a:xfrm>
            <a:off x="6080759" y="6296289"/>
            <a:ext cx="1783337" cy="925033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6946E360-095C-68C6-2CE5-67E84C795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305" y="6414668"/>
            <a:ext cx="751332" cy="68442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7822A87-2619-A817-B2F2-55BB68679C7D}"/>
              </a:ext>
            </a:extLst>
          </p:cNvPr>
          <p:cNvSpPr txBox="1"/>
          <p:nvPr/>
        </p:nvSpPr>
        <p:spPr>
          <a:xfrm>
            <a:off x="7328360" y="31545"/>
            <a:ext cx="128384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10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Under Supervision of:</a:t>
            </a:r>
            <a:endParaRPr lang="en-US" sz="1000" b="1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10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[</a:t>
            </a:r>
            <a:r>
              <a:rPr lang="en-US" sz="1000" b="1" dirty="0"/>
              <a:t>Dr. Gouda Ismail Mohamed</a:t>
            </a:r>
            <a:r>
              <a:rPr lang="en-US" sz="10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]</a:t>
            </a: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1000" b="1" u="sng" dirty="0"/>
              <a:t>Head of Track:</a:t>
            </a:r>
            <a:br>
              <a:rPr lang="en-US" sz="1000" b="1" dirty="0"/>
            </a:br>
            <a:r>
              <a:rPr lang="en-US" sz="1000" b="1" dirty="0"/>
              <a:t>Dr. Aya Hossam</a:t>
            </a:r>
            <a:endParaRPr lang="en-US" sz="1000" b="1" u="sng" dirty="0">
              <a:solidFill>
                <a:schemeClr val="tx1"/>
              </a:solidFill>
              <a:latin typeface="Titillium Web"/>
              <a:sym typeface="Titillium Web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5F7225-D19E-6CBA-D206-DE77D80D42F2}"/>
              </a:ext>
            </a:extLst>
          </p:cNvPr>
          <p:cNvSpPr txBox="1"/>
          <p:nvPr/>
        </p:nvSpPr>
        <p:spPr>
          <a:xfrm>
            <a:off x="44166" y="99868"/>
            <a:ext cx="14465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lt1"/>
              </a:buClr>
              <a:buSzPts val="5400"/>
            </a:pPr>
            <a:r>
              <a:rPr lang="ms" sz="9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r>
              <a:rPr lang="en-US" sz="900" b="1" dirty="0"/>
              <a:t> </a:t>
            </a:r>
          </a:p>
          <a:p>
            <a:pPr>
              <a:buClr>
                <a:schemeClr val="lt1"/>
              </a:buClr>
              <a:buSzPts val="5400"/>
            </a:pPr>
            <a:r>
              <a:rPr lang="en-US" sz="900" b="1" dirty="0"/>
              <a:t>Bothaina Radman</a:t>
            </a:r>
          </a:p>
          <a:p>
            <a:pPr>
              <a:buClr>
                <a:schemeClr val="lt1"/>
              </a:buClr>
              <a:buSzPts val="5400"/>
            </a:pPr>
            <a:r>
              <a:rPr lang="en-US" sz="900" b="1" dirty="0"/>
              <a:t>Zahraa Mostafa</a:t>
            </a:r>
          </a:p>
          <a:p>
            <a:pPr>
              <a:buClr>
                <a:schemeClr val="lt1"/>
              </a:buClr>
              <a:buSzPts val="5400"/>
            </a:pPr>
            <a:r>
              <a:rPr lang="en-US" sz="900" b="1" dirty="0"/>
              <a:t>Basma Ftoh </a:t>
            </a:r>
          </a:p>
          <a:p>
            <a:pPr>
              <a:buClr>
                <a:schemeClr val="lt1"/>
              </a:buClr>
              <a:buSzPts val="5400"/>
            </a:pPr>
            <a:r>
              <a:rPr lang="en-US" sz="900" b="1" dirty="0"/>
              <a:t>Rehab Moawed </a:t>
            </a:r>
          </a:p>
          <a:p>
            <a:pPr>
              <a:buClr>
                <a:schemeClr val="lt1"/>
              </a:buClr>
              <a:buSzPts val="5400"/>
            </a:pPr>
            <a:r>
              <a:rPr lang="en-US" sz="900" b="1" dirty="0"/>
              <a:t>Khlood Mahmoud</a:t>
            </a:r>
            <a:endParaRPr lang="ms" sz="900" b="1" u="sng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A1BC477-6999-A4B7-7DD7-5170A43C8D7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513344" y="2392388"/>
            <a:ext cx="1782031" cy="473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434</Words>
  <Application>Microsoft Office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Titillium Web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Talha, basma 11700749</cp:lastModifiedBy>
  <cp:revision>19</cp:revision>
  <dcterms:created xsi:type="dcterms:W3CDTF">2013-01-27T09:14:16Z</dcterms:created>
  <dcterms:modified xsi:type="dcterms:W3CDTF">2026-08-26T10:54:03Z</dcterms:modified>
  <cp:category/>
</cp:coreProperties>
</file>